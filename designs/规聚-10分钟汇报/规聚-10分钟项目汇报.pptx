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3620750" y="1962150"/>
            <a:ext cx="3238500" cy="3238500"/>
          </a:xfrm>
          <a:prstGeom prst="rect">
            <a:avLst/>
          </a:prstGeom>
          <a:ln/>
          <a:effectLst>
            <a:outerShdw sx="100000" sy="100000" kx="0" ky="0" algn="bl" rotWithShape="0" blurRad="101600" dist="50800" dir="16200000">
              <a:srgbClr val="7FD5C7">
                <a:alpha val="20400"/>
              </a:srgbClr>
            </a:outerShdw>
          </a:effectLst>
        </p:spPr>
      </p:sp>
      <p:sp>
        <p:nvSpPr>
          <p:cNvPr id="4" name="Shape 1"/>
          <p:cNvSpPr/>
          <p:nvPr/>
        </p:nvSpPr>
        <p:spPr>
          <a:xfrm>
            <a:off x="13620750" y="1962150"/>
            <a:ext cx="3238500" cy="3238500"/>
          </a:xfrm>
          <a:prstGeom prst="ellipse">
            <a:avLst/>
          </a:prstGeom>
          <a:ln w="9525">
            <a:solidFill>
              <a:srgbClr val="7FD5C7">
                <a:alpha val="35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4020800" y="2362200"/>
            <a:ext cx="2438400" cy="2438400"/>
          </a:xfrm>
          <a:prstGeom prst="ellipse">
            <a:avLst/>
          </a:prstGeom>
          <a:ln w="9525">
            <a:solidFill>
              <a:srgbClr val="7FD5C7">
                <a:alpha val="22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4439900" y="2781300"/>
            <a:ext cx="1600200" cy="1600200"/>
          </a:xfrm>
          <a:prstGeom prst="ellipse">
            <a:avLst/>
          </a:prstGeom>
          <a:ln w="9525">
            <a:solidFill>
              <a:srgbClr val="7FD5C7">
                <a:alpha val="18000"/>
              </a:srgbClr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279998">
            <a:off x="14829508" y="2182756"/>
            <a:ext cx="19050" cy="1333500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8640001">
            <a:off x="14931057" y="2391610"/>
            <a:ext cx="19050" cy="150495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15106650" y="2133600"/>
            <a:ext cx="266700" cy="266700"/>
          </a:xfrm>
          <a:prstGeom prst="ellipse">
            <a:avLst/>
          </a:prstGeom>
          <a:solidFill>
            <a:srgbClr val="7FD5C7"/>
          </a:solidFill>
          <a:ln/>
          <a:effectLst>
            <a:outerShdw sx="100000" sy="100000" kx="0" ky="0" algn="bl" rotWithShape="0" blurRad="228600" dist="50800" dir="16200000">
              <a:srgbClr val="7FD5C7">
                <a:alpha val="65000"/>
              </a:srgbClr>
            </a:outerShdw>
          </a:effectLst>
        </p:spPr>
      </p:sp>
      <p:sp>
        <p:nvSpPr>
          <p:cNvPr id="10" name="Shape 5"/>
          <p:cNvSpPr/>
          <p:nvPr/>
        </p:nvSpPr>
        <p:spPr>
          <a:xfrm>
            <a:off x="16440150" y="3467100"/>
            <a:ext cx="266700" cy="266700"/>
          </a:xfrm>
          <a:prstGeom prst="ellipse">
            <a:avLst/>
          </a:prstGeom>
          <a:solidFill>
            <a:srgbClr val="7FD5C7"/>
          </a:solidFill>
          <a:ln/>
          <a:effectLst>
            <a:outerShdw sx="100000" sy="100000" kx="0" ky="0" algn="bl" rotWithShape="0" blurRad="228600" dist="50800" dir="16200000">
              <a:srgbClr val="7FD5C7">
                <a:alpha val="65000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14020800" y="4514850"/>
            <a:ext cx="266700" cy="266700"/>
          </a:xfrm>
          <a:prstGeom prst="ellipse">
            <a:avLst/>
          </a:prstGeom>
          <a:solidFill>
            <a:srgbClr val="7FD5C7"/>
          </a:solidFill>
          <a:ln/>
          <a:effectLst>
            <a:outerShdw sx="100000" sy="100000" kx="0" ky="0" algn="bl" rotWithShape="0" blurRad="228600" dist="50800" dir="16200000">
              <a:srgbClr val="7FD5C7">
                <a:alpha val="65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15106650" y="3448050"/>
            <a:ext cx="457200" cy="457200"/>
          </a:xfrm>
          <a:prstGeom prst="ellipse">
            <a:avLst/>
          </a:prstGeom>
          <a:solidFill>
            <a:srgbClr val="E7B96B"/>
          </a:solidFill>
          <a:ln/>
          <a:effectLst>
            <a:outerShdw sx="100000" sy="100000" kx="0" ky="0" algn="bl" rotWithShape="0" blurRad="228600" dist="50800" dir="16200000">
              <a:srgbClr val="7FD5C7">
                <a:alpha val="65000"/>
              </a:srgbClr>
            </a:outerShdw>
          </a:effectLst>
        </p:spPr>
      </p:sp>
      <p:sp>
        <p:nvSpPr>
          <p:cNvPr id="13" name="Text 8"/>
          <p:cNvSpPr/>
          <p:nvPr/>
        </p:nvSpPr>
        <p:spPr>
          <a:xfrm>
            <a:off x="17095738" y="9763125"/>
            <a:ext cx="65886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D7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12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781050"/>
            <a:ext cx="1679600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5476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STRUCTURE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219200"/>
            <a:ext cx="16796004" cy="720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800" b="1" spc="-168" kern="0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今天只讲清楚四件事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90600" y="3522348"/>
            <a:ext cx="10287000" cy="9525"/>
          </a:xfrm>
          <a:prstGeom prst="rect">
            <a:avLst/>
          </a:prstGeom>
          <a:solidFill>
            <a:srgbClr val="17202A">
              <a:alpha val="1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90600" y="2636523"/>
            <a:ext cx="9334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057400" y="2569848"/>
            <a:ext cx="9496806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为什么要做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2057400" y="3065148"/>
            <a:ext cx="949680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E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从“工具很多、上下文很散”开始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990600" y="4660342"/>
            <a:ext cx="10287000" cy="9525"/>
          </a:xfrm>
          <a:prstGeom prst="rect">
            <a:avLst/>
          </a:prstGeom>
          <a:solidFill>
            <a:srgbClr val="17202A">
              <a:alpha val="1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990600" y="3774517"/>
            <a:ext cx="9334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057400" y="3707842"/>
            <a:ext cx="9496806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它是什么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2057400" y="4203142"/>
            <a:ext cx="949680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E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一个面向交通规划的 AI 一体化工作台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990600" y="5805889"/>
            <a:ext cx="10287000" cy="9525"/>
          </a:xfrm>
          <a:prstGeom prst="rect">
            <a:avLst/>
          </a:prstGeom>
          <a:solidFill>
            <a:srgbClr val="17202A">
              <a:alpha val="13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90600" y="4920064"/>
            <a:ext cx="9334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057400" y="4853389"/>
            <a:ext cx="9496806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核心功能如何协同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2057400" y="5348689"/>
            <a:ext cx="949680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E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知识库、GIS、Agent、Office 与模板库组成闭环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990600" y="6974163"/>
            <a:ext cx="10287000" cy="9525"/>
          </a:xfrm>
          <a:prstGeom prst="rect">
            <a:avLst/>
          </a:prstGeom>
          <a:solidFill>
            <a:srgbClr val="17202A">
              <a:alpha val="1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990600" y="6088338"/>
            <a:ext cx="9334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2057400" y="6021663"/>
            <a:ext cx="9496806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现场怎么演示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2057400" y="6516963"/>
            <a:ext cx="949680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E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用一个真实任务串起“查—看—问—改—出成果”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990600" y="9677400"/>
            <a:ext cx="530577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60" kern="0" dirty="0">
                <a:solidFill>
                  <a:srgbClr val="5476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建议讲法：每一部分只保留一个结论，细节交给现场演示。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7095738" y="9763125"/>
            <a:ext cx="65886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476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12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5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3770263"/>
            <a:ext cx="852937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7FD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WHY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4228686"/>
            <a:ext cx="8529374" cy="1403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800" b="1" spc="-168" kern="0" dirty="0">
                <a:solidFill>
                  <a:srgbClr val="F2F5F7">
                    <a:alpha val="99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规划工作的问题，</a:t>
            </a:r>
            <a:endParaRPr lang="en-US" sz="4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4800" b="1" spc="-168" kern="0" dirty="0">
                <a:solidFill>
                  <a:srgbClr val="ED8E8E">
                    <a:alpha val="99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不是没有工具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90600" y="5865252"/>
            <a:ext cx="745617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A8B3BD">
                    <a:alpha val="9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而是工具之间没有共享上下文：文档、地图、历史资料和 AI 对话各自分开，成果需要反复搬运。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9804946" y="3461529"/>
            <a:ext cx="7492305" cy="1067991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804946" y="3461529"/>
            <a:ext cx="28575" cy="1067991"/>
          </a:xfrm>
          <a:prstGeom prst="rect">
            <a:avLst/>
          </a:prstGeom>
          <a:solidFill>
            <a:srgbClr val="ED8E8E">
              <a:alpha val="97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043071" y="3652029"/>
            <a:ext cx="5715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ED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0690771" y="3680604"/>
            <a:ext cx="10668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F2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资料分散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0690771" y="4049102"/>
            <a:ext cx="6588838" cy="328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75" dirty="0">
                <a:solidFill>
                  <a:srgbClr val="A8B3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文件夹、聊天记录、知识库各自保存</a:t>
            </a:r>
            <a:endParaRPr lang="en-US" sz="1575" dirty="0"/>
          </a:p>
        </p:txBody>
      </p:sp>
      <p:sp>
        <p:nvSpPr>
          <p:cNvPr id="10" name="Shape 8"/>
          <p:cNvSpPr/>
          <p:nvPr/>
        </p:nvSpPr>
        <p:spPr>
          <a:xfrm>
            <a:off x="9804946" y="4713036"/>
            <a:ext cx="7492305" cy="1067991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804946" y="4713036"/>
            <a:ext cx="28575" cy="1067991"/>
          </a:xfrm>
          <a:prstGeom prst="rect">
            <a:avLst/>
          </a:prstGeom>
          <a:solidFill>
            <a:srgbClr val="ED8E8E">
              <a:alpha val="92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0043071" y="4903537"/>
            <a:ext cx="5715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ED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0690771" y="4932112"/>
            <a:ext cx="15621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F2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判断脱离空间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690771" y="5300610"/>
            <a:ext cx="6588838" cy="328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75" dirty="0">
                <a:solidFill>
                  <a:srgbClr val="A8B3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规划结论难以直接落到地图与图层</a:t>
            </a:r>
            <a:endParaRPr lang="en-US" sz="1575" dirty="0"/>
          </a:p>
        </p:txBody>
      </p:sp>
      <p:sp>
        <p:nvSpPr>
          <p:cNvPr id="15" name="Shape 13"/>
          <p:cNvSpPr/>
          <p:nvPr/>
        </p:nvSpPr>
        <p:spPr>
          <a:xfrm>
            <a:off x="9804946" y="5987260"/>
            <a:ext cx="7492305" cy="106799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804946" y="5987260"/>
            <a:ext cx="28575" cy="1067991"/>
          </a:xfrm>
          <a:prstGeom prst="rect">
            <a:avLst/>
          </a:prstGeom>
          <a:solidFill>
            <a:srgbClr val="ED8E8E">
              <a:alpha val="7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043071" y="6177760"/>
            <a:ext cx="5715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ED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0690771" y="6206335"/>
            <a:ext cx="15621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F2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成果重复加工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0690771" y="6574834"/>
            <a:ext cx="6588838" cy="328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75" dirty="0">
                <a:solidFill>
                  <a:srgbClr val="A8B3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查资料、写文档、做图表、出 PPT 反复切换</a:t>
            </a:r>
            <a:endParaRPr lang="en-US" sz="1575" dirty="0"/>
          </a:p>
        </p:txBody>
      </p:sp>
      <p:sp>
        <p:nvSpPr>
          <p:cNvPr id="20" name="Text 18"/>
          <p:cNvSpPr/>
          <p:nvPr/>
        </p:nvSpPr>
        <p:spPr>
          <a:xfrm>
            <a:off x="17095738" y="9763125"/>
            <a:ext cx="65886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D7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12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22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9150" y="7258050"/>
            <a:ext cx="3759203" cy="283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000"/>
              </a:lnSpc>
              <a:buNone/>
            </a:pPr>
            <a:r>
              <a:rPr lang="en-US" sz="31500" b="1" spc="-2000" kern="0" dirty="0">
                <a:solidFill>
                  <a:srgbClr val="7FD5C7">
                    <a:alpha val="1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1500" dirty="0"/>
          </a:p>
        </p:txBody>
      </p:sp>
      <p:sp>
        <p:nvSpPr>
          <p:cNvPr id="3" name="Text 1"/>
          <p:cNvSpPr/>
          <p:nvPr/>
        </p:nvSpPr>
        <p:spPr>
          <a:xfrm>
            <a:off x="990600" y="781050"/>
            <a:ext cx="1679600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7FD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WHAT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90600" y="2705100"/>
            <a:ext cx="16796004" cy="9767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600" b="1" spc="-231" kern="0" dirty="0">
                <a:solidFill>
                  <a:srgbClr val="F2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规聚 = 规划成果 + 知识汇聚 + 智能协作</a:t>
            </a:r>
            <a:endParaRPr lang="en-US" sz="6600" dirty="0"/>
          </a:p>
        </p:txBody>
      </p:sp>
      <p:sp>
        <p:nvSpPr>
          <p:cNvPr id="5" name="Shape 3"/>
          <p:cNvSpPr/>
          <p:nvPr/>
        </p:nvSpPr>
        <p:spPr>
          <a:xfrm>
            <a:off x="990600" y="3967609"/>
            <a:ext cx="647700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90600" y="4262884"/>
            <a:ext cx="7063740" cy="1281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A8B3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核心不是再做一个孤立的 AI 聊天框，而是让 Agent 能够读懂工作区里的资料、地图与成果，并在同一个任务里完成协作。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7095738" y="9763125"/>
            <a:ext cx="65886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D7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12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5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781050"/>
            <a:ext cx="1679600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7FD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ARCHITECTURE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219200"/>
            <a:ext cx="16796004" cy="720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800" b="1" spc="-168" kern="0" dirty="0">
                <a:solidFill>
                  <a:srgbClr val="F2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一个工作区，连接四类能力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90600" y="2417790"/>
            <a:ext cx="4876800" cy="2643187"/>
          </a:xfrm>
          <a:prstGeom prst="roundRect">
            <a:avLst>
              <a:gd name="adj" fmla="val 6486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2625" y="3739384"/>
            <a:ext cx="43815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7FD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247775" y="2674965"/>
            <a:ext cx="4493324" cy="341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025" b="1" dirty="0">
                <a:solidFill>
                  <a:srgbClr val="F2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文档与成果</a:t>
            </a:r>
            <a:endParaRPr lang="en-US" sz="2025" dirty="0"/>
          </a:p>
        </p:txBody>
      </p:sp>
      <p:sp>
        <p:nvSpPr>
          <p:cNvPr id="7" name="Text 5"/>
          <p:cNvSpPr/>
          <p:nvPr/>
        </p:nvSpPr>
        <p:spPr>
          <a:xfrm>
            <a:off x="1247775" y="3092725"/>
            <a:ext cx="4493324" cy="6179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75" dirty="0">
                <a:solidFill>
                  <a:srgbClr val="A8B3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/ PPT / Excel / Markdown</a:t>
            </a:r>
            <a:endParaRPr lang="en-US" sz="1575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575" dirty="0">
                <a:solidFill>
                  <a:srgbClr val="A8B3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批注、修订、预览、编辑</a:t>
            </a:r>
            <a:endParaRPr lang="en-US" sz="1575" dirty="0"/>
          </a:p>
        </p:txBody>
      </p:sp>
      <p:sp>
        <p:nvSpPr>
          <p:cNvPr id="8" name="Shape 6"/>
          <p:cNvSpPr/>
          <p:nvPr/>
        </p:nvSpPr>
        <p:spPr>
          <a:xfrm>
            <a:off x="990600" y="5256629"/>
            <a:ext cx="4876800" cy="2643188"/>
          </a:xfrm>
          <a:prstGeom prst="roundRect">
            <a:avLst>
              <a:gd name="adj" fmla="val 6486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2625" y="6578223"/>
            <a:ext cx="43815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7FD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1247775" y="5513804"/>
            <a:ext cx="4493324" cy="341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025" b="1" dirty="0">
                <a:solidFill>
                  <a:srgbClr val="F2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空间与数据</a:t>
            </a:r>
            <a:endParaRPr lang="en-US" sz="2025" dirty="0"/>
          </a:p>
        </p:txBody>
      </p:sp>
      <p:sp>
        <p:nvSpPr>
          <p:cNvPr id="11" name="Text 9"/>
          <p:cNvSpPr/>
          <p:nvPr/>
        </p:nvSpPr>
        <p:spPr>
          <a:xfrm>
            <a:off x="1247775" y="5931565"/>
            <a:ext cx="4493324" cy="6179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75" dirty="0">
                <a:solidFill>
                  <a:srgbClr val="A8B3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MapLibre GIS</a:t>
            </a:r>
            <a:endParaRPr lang="en-US" sz="1575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575" dirty="0">
                <a:solidFill>
                  <a:srgbClr val="A8B3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图层、属性表、测量与导入</a:t>
            </a:r>
            <a:endParaRPr lang="en-US" sz="1575" dirty="0"/>
          </a:p>
        </p:txBody>
      </p:sp>
      <p:sp>
        <p:nvSpPr>
          <p:cNvPr id="12" name="Shape 10"/>
          <p:cNvSpPr/>
          <p:nvPr/>
        </p:nvSpPr>
        <p:spPr>
          <a:xfrm>
            <a:off x="6096000" y="2436622"/>
            <a:ext cx="6096000" cy="5476875"/>
          </a:xfrm>
          <a:prstGeom prst="roundRect">
            <a:avLst>
              <a:gd name="adj" fmla="val 3130"/>
            </a:avLst>
          </a:prstGeom>
          <a:ln w="9525">
            <a:solidFill>
              <a:srgbClr val="7FD5C7">
                <a:alpha val="43000"/>
              </a:srgbClr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6096000" y="2436622"/>
            <a:ext cx="6096000" cy="5476875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508504" y="4558316"/>
            <a:ext cx="1270992" cy="577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3600" b="1" dirty="0">
                <a:solidFill>
                  <a:srgbClr val="F2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3600" dirty="0"/>
          </a:p>
        </p:txBody>
      </p:sp>
      <p:sp>
        <p:nvSpPr>
          <p:cNvPr id="15" name="Text 12"/>
          <p:cNvSpPr/>
          <p:nvPr/>
        </p:nvSpPr>
        <p:spPr>
          <a:xfrm>
            <a:off x="7495794" y="5211969"/>
            <a:ext cx="3296412" cy="6179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575" dirty="0">
                <a:solidFill>
                  <a:srgbClr val="D8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读取上下文 · 调用工具 · 流式反馈</a:t>
            </a:r>
            <a:endParaRPr lang="en-US" sz="1575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575" dirty="0">
                <a:solidFill>
                  <a:srgbClr val="D8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把一个自然语言任务拆成可执行步骤</a:t>
            </a:r>
            <a:endParaRPr lang="en-US" sz="1575" dirty="0"/>
          </a:p>
        </p:txBody>
      </p:sp>
      <p:sp>
        <p:nvSpPr>
          <p:cNvPr id="16" name="Shape 13"/>
          <p:cNvSpPr/>
          <p:nvPr/>
        </p:nvSpPr>
        <p:spPr>
          <a:xfrm>
            <a:off x="12420600" y="2477185"/>
            <a:ext cx="4876800" cy="2643188"/>
          </a:xfrm>
          <a:prstGeom prst="roundRect">
            <a:avLst>
              <a:gd name="adj" fmla="val 6486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2163425" y="3798778"/>
            <a:ext cx="43815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7FD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2850" dirty="0"/>
          </a:p>
        </p:txBody>
      </p:sp>
      <p:sp>
        <p:nvSpPr>
          <p:cNvPr id="18" name="Text 15"/>
          <p:cNvSpPr/>
          <p:nvPr/>
        </p:nvSpPr>
        <p:spPr>
          <a:xfrm>
            <a:off x="12677775" y="2734360"/>
            <a:ext cx="4493324" cy="341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025" b="1" dirty="0">
                <a:solidFill>
                  <a:srgbClr val="F2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知识与模板</a:t>
            </a:r>
            <a:endParaRPr lang="en-US" sz="2025" dirty="0"/>
          </a:p>
        </p:txBody>
      </p:sp>
      <p:sp>
        <p:nvSpPr>
          <p:cNvPr id="19" name="Text 16"/>
          <p:cNvSpPr/>
          <p:nvPr/>
        </p:nvSpPr>
        <p:spPr>
          <a:xfrm>
            <a:off x="12677775" y="3152120"/>
            <a:ext cx="4493324" cy="6179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75" dirty="0">
                <a:solidFill>
                  <a:srgbClr val="A8B3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全文检索、知识图谱、反链</a:t>
            </a:r>
            <a:endParaRPr lang="en-US" sz="1575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575" dirty="0">
                <a:solidFill>
                  <a:srgbClr val="A8B3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318 个模板与 OpenDesign PPT</a:t>
            </a:r>
            <a:endParaRPr lang="en-US" sz="1575" dirty="0"/>
          </a:p>
        </p:txBody>
      </p:sp>
      <p:sp>
        <p:nvSpPr>
          <p:cNvPr id="20" name="Shape 17"/>
          <p:cNvSpPr/>
          <p:nvPr/>
        </p:nvSpPr>
        <p:spPr>
          <a:xfrm>
            <a:off x="12420600" y="5434503"/>
            <a:ext cx="4876800" cy="2643188"/>
          </a:xfrm>
          <a:prstGeom prst="roundRect">
            <a:avLst>
              <a:gd name="adj" fmla="val 6486"/>
            </a:avLst>
          </a:prstGeom>
          <a:solidFill>
            <a:srgbClr val="FFFFFF">
              <a:alpha val="1000"/>
            </a:srgbClr>
          </a:solidFill>
          <a:ln w="9525">
            <a:solidFill>
              <a:srgbClr val="FFFFFF">
                <a:alpha val="1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2163425" y="6756097"/>
            <a:ext cx="43815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7FD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2850" dirty="0"/>
          </a:p>
        </p:txBody>
      </p:sp>
      <p:sp>
        <p:nvSpPr>
          <p:cNvPr id="22" name="Text 19"/>
          <p:cNvSpPr/>
          <p:nvPr/>
        </p:nvSpPr>
        <p:spPr>
          <a:xfrm>
            <a:off x="12677775" y="5691678"/>
            <a:ext cx="4493324" cy="341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025" b="1" dirty="0">
                <a:solidFill>
                  <a:srgbClr val="F2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记忆与会话</a:t>
            </a:r>
            <a:endParaRPr lang="en-US" sz="2025" dirty="0"/>
          </a:p>
        </p:txBody>
      </p:sp>
      <p:sp>
        <p:nvSpPr>
          <p:cNvPr id="23" name="Text 20"/>
          <p:cNvSpPr/>
          <p:nvPr/>
        </p:nvSpPr>
        <p:spPr>
          <a:xfrm>
            <a:off x="12677775" y="6109439"/>
            <a:ext cx="4493324" cy="6179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75" dirty="0">
                <a:solidFill>
                  <a:srgbClr val="A8B3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工作区记忆、历史会话</a:t>
            </a:r>
            <a:endParaRPr lang="en-US" sz="1575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575" dirty="0">
                <a:solidFill>
                  <a:srgbClr val="A8B3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让任务能够接着做</a:t>
            </a:r>
            <a:endParaRPr lang="en-US" sz="1575" dirty="0"/>
          </a:p>
        </p:txBody>
      </p:sp>
      <p:sp>
        <p:nvSpPr>
          <p:cNvPr id="24" name="Text 21"/>
          <p:cNvSpPr/>
          <p:nvPr/>
        </p:nvSpPr>
        <p:spPr>
          <a:xfrm>
            <a:off x="990600" y="9677400"/>
            <a:ext cx="612190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60" kern="0" dirty="0">
                <a:solidFill>
                  <a:srgbClr val="6D7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一句话：不是把功能并排摆放，而是让它们共享同一个任务上下文。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17095738" y="9763125"/>
            <a:ext cx="65886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D7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12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15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3536900"/>
            <a:ext cx="894633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7FD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KNOWLEDGE BASE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3976275"/>
            <a:ext cx="8946331" cy="14034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800" b="1" spc="-168" kern="0" dirty="0">
                <a:solidFill>
                  <a:srgbClr val="F2F5F7">
                    <a:alpha val="99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先把已有知识</a:t>
            </a:r>
            <a:endParaRPr lang="en-US" sz="4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4800" b="1" spc="-168" kern="0" dirty="0">
                <a:solidFill>
                  <a:srgbClr val="7FD5C7">
                    <a:alpha val="99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变成可检索、可关联的资产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90600" y="5631896"/>
            <a:ext cx="39409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b="1" dirty="0">
                <a:solidFill>
                  <a:srgbClr val="7FD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1460897" y="5631896"/>
            <a:ext cx="585962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A8B3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递归扫描 Markdown，按标题、标签、正文加权检索。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990600" y="6120223"/>
            <a:ext cx="39409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b="1" dirty="0">
                <a:solidFill>
                  <a:srgbClr val="7FD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460897" y="6120223"/>
            <a:ext cx="564118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A8B3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用双向链接、相似内容、标签和目录形成知识图谱。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990600" y="6631291"/>
            <a:ext cx="39409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b="1" dirty="0">
                <a:solidFill>
                  <a:srgbClr val="7FD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460897" y="6631291"/>
            <a:ext cx="591787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A8B3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找到资料后可直接“@ 到对话”，交给 Agent 继续分析。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10190708" y="2710846"/>
            <a:ext cx="7106692" cy="5048250"/>
          </a:xfrm>
          <a:prstGeom prst="roundRect">
            <a:avLst>
              <a:gd name="adj" fmla="val 4906"/>
            </a:avLst>
          </a:prstGeom>
          <a:solidFill>
            <a:srgbClr val="151D2B">
              <a:alpha val="97000"/>
            </a:srgbClr>
          </a:solidFill>
          <a:ln w="9525">
            <a:solidFill>
              <a:srgbClr val="7FD5C7">
                <a:alpha val="29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alphaModFix amt="97000"/>
          </a:blip>
          <a:stretch>
            <a:fillRect/>
          </a:stretch>
        </p:blipFill>
        <p:spPr>
          <a:xfrm>
            <a:off x="10190708" y="2710846"/>
            <a:ext cx="7106692" cy="504825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3247787" y="4731932"/>
            <a:ext cx="1276350" cy="1276350"/>
          </a:xfrm>
          <a:prstGeom prst="ellipse">
            <a:avLst/>
          </a:prstGeom>
          <a:solidFill>
            <a:srgbClr val="7FD5C7"/>
          </a:solidFill>
          <a:ln/>
          <a:effectLst>
            <a:outerShdw sx="100000" sy="100000" kx="0" ky="0" algn="bl" rotWithShape="0" blurRad="323850" dist="50800" dir="16200000">
              <a:srgbClr val="7FD5C7">
                <a:alpha val="5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3714512" y="5160557"/>
            <a:ext cx="419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71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13714512" y="5398682"/>
            <a:ext cx="419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71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总览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11263313" y="3625544"/>
            <a:ext cx="819150" cy="819150"/>
          </a:xfrm>
          <a:prstGeom prst="ellipse">
            <a:avLst/>
          </a:prstGeom>
          <a:solidFill>
            <a:srgbClr val="7DA8E8"/>
          </a:solidFill>
          <a:ln/>
        </p:spPr>
      </p:sp>
      <p:sp>
        <p:nvSpPr>
          <p:cNvPr id="16" name="Text 13"/>
          <p:cNvSpPr/>
          <p:nvPr/>
        </p:nvSpPr>
        <p:spPr>
          <a:xfrm>
            <a:off x="11225213" y="3625544"/>
            <a:ext cx="895350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71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政策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15612963" y="3826759"/>
            <a:ext cx="895350" cy="895350"/>
          </a:xfrm>
          <a:prstGeom prst="ellipse">
            <a:avLst/>
          </a:prstGeom>
          <a:solidFill>
            <a:srgbClr val="E7B96B"/>
          </a:solidFill>
          <a:ln/>
        </p:spPr>
      </p:sp>
      <p:sp>
        <p:nvSpPr>
          <p:cNvPr id="18" name="Text 15"/>
          <p:cNvSpPr/>
          <p:nvPr/>
        </p:nvSpPr>
        <p:spPr>
          <a:xfrm>
            <a:off x="15574863" y="3826759"/>
            <a:ext cx="971550" cy="933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71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路网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11688514" y="6189852"/>
            <a:ext cx="704850" cy="704850"/>
          </a:xfrm>
          <a:prstGeom prst="ellipse">
            <a:avLst/>
          </a:prstGeom>
          <a:solidFill>
            <a:srgbClr val="C9A8E6"/>
          </a:solidFill>
          <a:ln/>
        </p:spPr>
      </p:sp>
      <p:sp>
        <p:nvSpPr>
          <p:cNvPr id="20" name="Text 17"/>
          <p:cNvSpPr/>
          <p:nvPr/>
        </p:nvSpPr>
        <p:spPr>
          <a:xfrm>
            <a:off x="11650414" y="6189852"/>
            <a:ext cx="781050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71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模板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15250120" y="6233310"/>
            <a:ext cx="762000" cy="762000"/>
          </a:xfrm>
          <a:prstGeom prst="ellipse">
            <a:avLst/>
          </a:prstGeom>
          <a:solidFill>
            <a:srgbClr val="7BB0D8"/>
          </a:solidFill>
          <a:ln/>
        </p:spPr>
      </p:sp>
      <p:sp>
        <p:nvSpPr>
          <p:cNvPr id="22" name="Text 19"/>
          <p:cNvSpPr/>
          <p:nvPr/>
        </p:nvSpPr>
        <p:spPr>
          <a:xfrm>
            <a:off x="15212020" y="6233310"/>
            <a:ext cx="8382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71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案例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14311015" y="3223261"/>
            <a:ext cx="514350" cy="514350"/>
          </a:xfrm>
          <a:prstGeom prst="ellipse">
            <a:avLst/>
          </a:prstGeom>
          <a:solidFill>
            <a:srgbClr val="D58989"/>
          </a:solidFill>
          <a:ln/>
        </p:spPr>
      </p:sp>
      <p:sp>
        <p:nvSpPr>
          <p:cNvPr id="24" name="Text 21"/>
          <p:cNvSpPr/>
          <p:nvPr/>
        </p:nvSpPr>
        <p:spPr>
          <a:xfrm>
            <a:off x="14272915" y="3223261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71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10428833" y="7292371"/>
            <a:ext cx="49053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D7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图谱视图：节点大小可表达引用关系，点击节点联动预览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17095738" y="9763125"/>
            <a:ext cx="65886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D7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12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5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781050"/>
            <a:ext cx="1679600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7FD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GIS WORKSPACE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219200"/>
            <a:ext cx="16796004" cy="720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800" b="1" spc="-168" kern="0" dirty="0">
                <a:solidFill>
                  <a:srgbClr val="F2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把规划判断放回地图里验证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90600" y="2340025"/>
            <a:ext cx="5600700" cy="5334000"/>
          </a:xfrm>
          <a:prstGeom prst="roundRect">
            <a:avLst>
              <a:gd name="adj" fmla="val 3214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47775" y="2597200"/>
            <a:ext cx="5238941" cy="352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100" b="1" dirty="0">
                <a:solidFill>
                  <a:srgbClr val="F2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图层面板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247775" y="3683347"/>
            <a:ext cx="508635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247775" y="3316635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7FD5C7"/>
          </a:solidFill>
          <a:ln/>
        </p:spPr>
      </p:sp>
      <p:sp>
        <p:nvSpPr>
          <p:cNvPr id="8" name="Text 6"/>
          <p:cNvSpPr/>
          <p:nvPr/>
        </p:nvSpPr>
        <p:spPr>
          <a:xfrm>
            <a:off x="1514475" y="3235672"/>
            <a:ext cx="12192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2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行政区边界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247775" y="4273897"/>
            <a:ext cx="508635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247775" y="3907185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7DA8E8"/>
          </a:solidFill>
          <a:ln/>
        </p:spPr>
      </p:sp>
      <p:sp>
        <p:nvSpPr>
          <p:cNvPr id="11" name="Text 9"/>
          <p:cNvSpPr/>
          <p:nvPr/>
        </p:nvSpPr>
        <p:spPr>
          <a:xfrm>
            <a:off x="1514475" y="3826222"/>
            <a:ext cx="9906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2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高速公路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247775" y="4864447"/>
            <a:ext cx="508635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247775" y="4497735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E7B96B"/>
          </a:solidFill>
          <a:ln/>
        </p:spPr>
      </p:sp>
      <p:sp>
        <p:nvSpPr>
          <p:cNvPr id="14" name="Text 12"/>
          <p:cNvSpPr/>
          <p:nvPr/>
        </p:nvSpPr>
        <p:spPr>
          <a:xfrm>
            <a:off x="1514475" y="4416772"/>
            <a:ext cx="12192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2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国省道规划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247775" y="5454997"/>
            <a:ext cx="508635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247775" y="5088285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ED8E8E"/>
          </a:solidFill>
          <a:ln/>
        </p:spPr>
      </p:sp>
      <p:sp>
        <p:nvSpPr>
          <p:cNvPr id="17" name="Text 15"/>
          <p:cNvSpPr/>
          <p:nvPr/>
        </p:nvSpPr>
        <p:spPr>
          <a:xfrm>
            <a:off x="1514475" y="5007322"/>
            <a:ext cx="14478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2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收费站与枢纽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247775" y="6045547"/>
            <a:ext cx="508635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247775" y="5678835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7FD5C7"/>
          </a:solidFill>
          <a:ln/>
        </p:spPr>
      </p:sp>
      <p:sp>
        <p:nvSpPr>
          <p:cNvPr id="20" name="Text 18"/>
          <p:cNvSpPr/>
          <p:nvPr/>
        </p:nvSpPr>
        <p:spPr>
          <a:xfrm>
            <a:off x="1514475" y="5597872"/>
            <a:ext cx="14478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2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临时绘制图层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47775" y="6321772"/>
            <a:ext cx="5238941" cy="645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A8B3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支持导入 GeoJSON / SHP，属性表检索、排序、分页与 CSV 导出。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6896100" y="2345373"/>
            <a:ext cx="10401300" cy="5334000"/>
          </a:xfrm>
          <a:prstGeom prst="roundRect">
            <a:avLst>
              <a:gd name="adj" fmla="val 3571"/>
            </a:avLst>
          </a:prstGeom>
          <a:solidFill>
            <a:srgbClr val="0F2028">
              <a:alpha val="97000"/>
            </a:srgbClr>
          </a:solidFill>
          <a:ln w="9525">
            <a:solidFill>
              <a:srgbClr val="7FD5C7">
                <a:alpha val="41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1320001">
            <a:off x="8188724" y="4913955"/>
            <a:ext cx="4000500" cy="66675"/>
          </a:xfrm>
          <a:prstGeom prst="roundRect">
            <a:avLst>
              <a:gd name="adj" fmla="val 50000"/>
            </a:avLst>
          </a:prstGeom>
          <a:solidFill>
            <a:srgbClr val="E7B96B"/>
          </a:solidFill>
          <a:ln/>
          <a:effectLst>
            <a:outerShdw sx="100000" sy="100000" kx="0" ky="0" algn="bl" rotWithShape="0" blurRad="114300" dist="50800" dir="16200000">
              <a:srgbClr val="E7B96B">
                <a:alpha val="8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 rot="-1680001">
            <a:off x="10324438" y="4883739"/>
            <a:ext cx="3429000" cy="66675"/>
          </a:xfrm>
          <a:prstGeom prst="roundRect">
            <a:avLst>
              <a:gd name="adj" fmla="val 50000"/>
            </a:avLst>
          </a:prstGeom>
          <a:solidFill>
            <a:srgbClr val="7FD5C7"/>
          </a:solidFill>
          <a:ln/>
          <a:effectLst>
            <a:outerShdw sx="100000" sy="100000" kx="0" ky="0" algn="bl" rotWithShape="0" blurRad="114300" dist="50800" dir="16200000">
              <a:srgbClr val="E7B96B">
                <a:alpha val="8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1266140" y="4161969"/>
            <a:ext cx="209550" cy="209550"/>
          </a:xfrm>
          <a:prstGeom prst="ellipse">
            <a:avLst/>
          </a:prstGeom>
          <a:solidFill>
            <a:srgbClr val="ED8E8E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71450" dist="50800" dir="16200000">
              <a:srgbClr val="ED8E8E">
                <a:alpha val="8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4380815" y="5703233"/>
            <a:ext cx="209550" cy="209550"/>
          </a:xfrm>
          <a:prstGeom prst="ellipse">
            <a:avLst/>
          </a:prstGeom>
          <a:solidFill>
            <a:srgbClr val="7FD5C7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71450" dist="50800" dir="16200000">
              <a:srgbClr val="ED8E8E">
                <a:alpha val="8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90600" y="9677400"/>
            <a:ext cx="798917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60" kern="0" dirty="0">
                <a:solidFill>
                  <a:srgbClr val="6D7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演示建议：打开图层 → 点击一个节点 → 查看属性表 → 让 Agent 修改样式或导入数据。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7095738" y="9763125"/>
            <a:ext cx="65886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D7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12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15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3013025"/>
            <a:ext cx="9747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7FD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AI AGENT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3280952"/>
            <a:ext cx="9747900" cy="14034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800" b="1" spc="-168" kern="0" dirty="0">
                <a:solidFill>
                  <a:srgbClr val="F2F5F7">
                    <a:alpha val="99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从“回答问题”</a:t>
            </a:r>
            <a:endParaRPr lang="en-US" sz="4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4800" b="1" spc="-168" kern="0" dirty="0">
                <a:solidFill>
                  <a:srgbClr val="F2F5F7">
                    <a:alpha val="99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走向</a:t>
            </a:r>
            <a:pPr algn="l" indent="0" marL="0">
              <a:lnSpc>
                <a:spcPct val="112000"/>
              </a:lnSpc>
              <a:buNone/>
            </a:pPr>
            <a:r>
              <a:rPr lang="en-US" sz="4800" b="1" spc="-168" kern="0" dirty="0">
                <a:solidFill>
                  <a:srgbClr val="7FD5C7">
                    <a:alpha val="99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“完成任务”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90600" y="5050875"/>
            <a:ext cx="590550" cy="590550"/>
          </a:xfrm>
          <a:prstGeom prst="ellipse">
            <a:avLst/>
          </a:prstGeom>
          <a:ln w="9525">
            <a:solidFill>
              <a:srgbClr val="7FD5C7">
                <a:alpha val="5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0125" y="5060400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7FD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752600" y="5041349"/>
            <a:ext cx="11430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2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理解意图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752600" y="5412825"/>
            <a:ext cx="896304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A8B3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识别当前文件、知识库引用与工作区上下文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990600" y="5939258"/>
            <a:ext cx="590550" cy="590550"/>
          </a:xfrm>
          <a:prstGeom prst="ellipse">
            <a:avLst/>
          </a:prstGeom>
          <a:ln w="9525">
            <a:solidFill>
              <a:srgbClr val="7FD5C7">
                <a:alpha val="5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0125" y="5948783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7FD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752600" y="5929733"/>
            <a:ext cx="11430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2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调用工具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752600" y="6301208"/>
            <a:ext cx="896304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A8B3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officecli、kb_search、kb_read、map_read、map_edit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990600" y="6850399"/>
            <a:ext cx="590550" cy="590550"/>
          </a:xfrm>
          <a:prstGeom prst="ellipse">
            <a:avLst/>
          </a:prstGeom>
          <a:ln w="9525">
            <a:solidFill>
              <a:srgbClr val="7FD5C7">
                <a:alpha val="5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0125" y="6859924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7FD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752600" y="6840874"/>
            <a:ext cx="11430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2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流式反馈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752600" y="7212349"/>
            <a:ext cx="896304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A8B3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思考、工具调用、结果与最终文本分层展示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0987980" y="3880370"/>
            <a:ext cx="6309420" cy="2733229"/>
          </a:xfrm>
          <a:prstGeom prst="roundRect">
            <a:avLst>
              <a:gd name="adj" fmla="val 7667"/>
            </a:avLst>
          </a:prstGeom>
          <a:solidFill>
            <a:srgbClr val="090D14">
              <a:alpha val="91000"/>
            </a:srgbClr>
          </a:solidFill>
          <a:ln w="9525">
            <a:solidFill>
              <a:srgbClr val="7FD5C7">
                <a:alpha val="31000"/>
              </a:srgbClr>
            </a:solidFill>
            <a:prstDash val="solid"/>
          </a:ln>
          <a:effectLst>
            <a:outerShdw sx="100000" sy="100000" kx="0" ky="0" algn="bl" rotWithShape="0" blurRad="666750" dist="228600" dir="5400000">
              <a:srgbClr val="000000">
                <a:alpha val="21958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1283255" y="4175645"/>
            <a:ext cx="114300" cy="114300"/>
          </a:xfrm>
          <a:prstGeom prst="ellipse">
            <a:avLst/>
          </a:prstGeom>
          <a:solidFill>
            <a:srgbClr val="7B4D51"/>
          </a:solidFill>
          <a:ln/>
        </p:spPr>
      </p:sp>
      <p:sp>
        <p:nvSpPr>
          <p:cNvPr id="18" name="Shape 16"/>
          <p:cNvSpPr/>
          <p:nvPr/>
        </p:nvSpPr>
        <p:spPr>
          <a:xfrm>
            <a:off x="11473755" y="4175645"/>
            <a:ext cx="114300" cy="114300"/>
          </a:xfrm>
          <a:prstGeom prst="ellipse">
            <a:avLst/>
          </a:prstGeom>
          <a:solidFill>
            <a:srgbClr val="92764A"/>
          </a:solidFill>
          <a:ln/>
        </p:spPr>
      </p:sp>
      <p:sp>
        <p:nvSpPr>
          <p:cNvPr id="19" name="Shape 17"/>
          <p:cNvSpPr/>
          <p:nvPr/>
        </p:nvSpPr>
        <p:spPr>
          <a:xfrm>
            <a:off x="11664255" y="4175645"/>
            <a:ext cx="114300" cy="114300"/>
          </a:xfrm>
          <a:prstGeom prst="ellipse">
            <a:avLst/>
          </a:prstGeom>
          <a:solidFill>
            <a:srgbClr val="4C857B"/>
          </a:solidFill>
          <a:ln/>
        </p:spPr>
      </p:sp>
      <p:sp>
        <p:nvSpPr>
          <p:cNvPr id="20" name="Text 18"/>
          <p:cNvSpPr/>
          <p:nvPr/>
        </p:nvSpPr>
        <p:spPr>
          <a:xfrm>
            <a:off x="11283255" y="4537595"/>
            <a:ext cx="5890436" cy="394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650" dirty="0">
                <a:solidFill>
                  <a:srgbClr val="7FD5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</a:t>
            </a:r>
            <a:pPr algn="l" indent="0" marL="0">
              <a:lnSpc>
                <a:spcPct val="170000"/>
              </a:lnSpc>
              <a:buNone/>
            </a:pPr>
            <a:r>
              <a:rPr lang="en-US" sz="1650" dirty="0">
                <a:solidFill>
                  <a:srgbClr val="BDCC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分析这条省道周边的规划资料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1283255" y="4893741"/>
            <a:ext cx="5890436" cy="394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650" dirty="0">
                <a:solidFill>
                  <a:srgbClr val="7FD5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↳ </a:t>
            </a:r>
            <a:pPr algn="l" indent="0" marL="0">
              <a:lnSpc>
                <a:spcPct val="170000"/>
              </a:lnSpc>
              <a:buNone/>
            </a:pPr>
            <a:r>
              <a:rPr lang="en-US" sz="1650" dirty="0">
                <a:solidFill>
                  <a:srgbClr val="E7B9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kb_search</a:t>
            </a:r>
            <a:pPr algn="l" indent="0" marL="0">
              <a:lnSpc>
                <a:spcPct val="170000"/>
              </a:lnSpc>
              <a:buNone/>
            </a:pPr>
            <a:r>
              <a:rPr lang="en-US" sz="1650" dirty="0">
                <a:solidFill>
                  <a:srgbClr val="BDCC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：找到 12 篇相关文档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1283255" y="5249887"/>
            <a:ext cx="5890436" cy="394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650" dirty="0">
                <a:solidFill>
                  <a:srgbClr val="7FD5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↳ </a:t>
            </a:r>
            <a:pPr algn="l" indent="0" marL="0">
              <a:lnSpc>
                <a:spcPct val="170000"/>
              </a:lnSpc>
              <a:buNone/>
            </a:pPr>
            <a:r>
              <a:rPr lang="en-US" sz="1650" dirty="0">
                <a:solidFill>
                  <a:srgbClr val="E7B9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map_read</a:t>
            </a:r>
            <a:pPr algn="l" indent="0" marL="0">
              <a:lnSpc>
                <a:spcPct val="170000"/>
              </a:lnSpc>
              <a:buNone/>
            </a:pPr>
            <a:r>
              <a:rPr lang="en-US" sz="1650" dirty="0">
                <a:solidFill>
                  <a:srgbClr val="BDCC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：读取当前图层与选中要素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1283255" y="5606032"/>
            <a:ext cx="5890436" cy="394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650" dirty="0">
                <a:solidFill>
                  <a:srgbClr val="7FD5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↳ </a:t>
            </a:r>
            <a:pPr algn="l" indent="0" marL="0">
              <a:lnSpc>
                <a:spcPct val="170000"/>
              </a:lnSpc>
              <a:buNone/>
            </a:pPr>
            <a:r>
              <a:rPr lang="en-US" sz="1650" dirty="0">
                <a:solidFill>
                  <a:srgbClr val="E7B9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officecli</a:t>
            </a:r>
            <a:pPr algn="l" indent="0" marL="0">
              <a:lnSpc>
                <a:spcPct val="170000"/>
              </a:lnSpc>
              <a:buNone/>
            </a:pPr>
            <a:r>
              <a:rPr lang="en-US" sz="1650" dirty="0">
                <a:solidFill>
                  <a:srgbClr val="BDCC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：打开项目说明文档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1283255" y="5962178"/>
            <a:ext cx="5890436" cy="394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650" dirty="0">
                <a:solidFill>
                  <a:srgbClr val="7FD5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</a:t>
            </a:r>
            <a:pPr algn="l" indent="0" marL="0">
              <a:lnSpc>
                <a:spcPct val="170000"/>
              </a:lnSpc>
              <a:buNone/>
            </a:pPr>
            <a:r>
              <a:rPr lang="en-US" sz="1650" dirty="0">
                <a:solidFill>
                  <a:srgbClr val="BDCC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已生成结论与下一步建议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17095738" y="9763125"/>
            <a:ext cx="65886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D7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12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15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781050"/>
            <a:ext cx="666517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7FD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· OUTPUT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219200"/>
            <a:ext cx="6665178" cy="14034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800" b="1" spc="-168" kern="0" dirty="0">
                <a:solidFill>
                  <a:srgbClr val="F2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成果不止能看，</a:t>
            </a:r>
            <a:endParaRPr lang="en-US" sz="4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4800" b="1" spc="-168" kern="0" dirty="0">
                <a:solidFill>
                  <a:srgbClr val="F2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还要能继续改、继续复用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2820650" y="1548705"/>
            <a:ext cx="4611052" cy="1073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75" dirty="0">
                <a:solidFill>
                  <a:srgbClr val="A8B3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让“研究—分析—写作—汇报”不再是四个孤立环节，而是在同一个工作台里连续发生。</a:t>
            </a:r>
            <a:endParaRPr lang="en-US" sz="1875" dirty="0"/>
          </a:p>
        </p:txBody>
      </p:sp>
      <p:sp>
        <p:nvSpPr>
          <p:cNvPr id="5" name="Shape 3"/>
          <p:cNvSpPr/>
          <p:nvPr/>
        </p:nvSpPr>
        <p:spPr>
          <a:xfrm>
            <a:off x="990600" y="3062053"/>
            <a:ext cx="5283101" cy="3714750"/>
          </a:xfrm>
          <a:prstGeom prst="roundRect">
            <a:avLst>
              <a:gd name="adj" fmla="val 4615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3338278"/>
            <a:ext cx="487257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spc="103" kern="0" dirty="0">
                <a:solidFill>
                  <a:srgbClr val="6D7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OFFICE VIEWER</a:t>
            </a:r>
            <a:endParaRPr lang="en-US" sz="1725" dirty="0"/>
          </a:p>
        </p:txBody>
      </p:sp>
      <p:sp>
        <p:nvSpPr>
          <p:cNvPr id="7" name="Text 5"/>
          <p:cNvSpPr/>
          <p:nvPr/>
        </p:nvSpPr>
        <p:spPr>
          <a:xfrm>
            <a:off x="1266825" y="3824053"/>
            <a:ext cx="487257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250" b="1" dirty="0">
                <a:solidFill>
                  <a:srgbClr val="F2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高保真文档预览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266825" y="4284974"/>
            <a:ext cx="4872570" cy="673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725" dirty="0">
                <a:solidFill>
                  <a:srgbClr val="A8B3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批注与修订、PPT 翻页、Excel 多 sheet 编辑、Markdown 目录与公式。</a:t>
            </a:r>
            <a:endParaRPr lang="en-US" sz="1725" dirty="0"/>
          </a:p>
        </p:txBody>
      </p:sp>
      <p:sp>
        <p:nvSpPr>
          <p:cNvPr id="9" name="Shape 7"/>
          <p:cNvSpPr/>
          <p:nvPr/>
        </p:nvSpPr>
        <p:spPr>
          <a:xfrm>
            <a:off x="1266825" y="5490928"/>
            <a:ext cx="4730651" cy="1009650"/>
          </a:xfrm>
          <a:prstGeom prst="roundRect">
            <a:avLst>
              <a:gd name="adj" fmla="val 11321"/>
            </a:avLst>
          </a:prstGeom>
          <a:solidFill>
            <a:srgbClr val="121A24"/>
          </a:solidFill>
          <a:ln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76350" y="5500453"/>
            <a:ext cx="4711601" cy="209550"/>
          </a:xfrm>
          <a:prstGeom prst="rect">
            <a:avLst/>
          </a:prstGeom>
          <a:solidFill>
            <a:srgbClr val="263244"/>
          </a:solidFill>
          <a:ln/>
        </p:spPr>
      </p:sp>
      <p:sp>
        <p:nvSpPr>
          <p:cNvPr id="11" name="Shape 9"/>
          <p:cNvSpPr/>
          <p:nvPr/>
        </p:nvSpPr>
        <p:spPr>
          <a:xfrm>
            <a:off x="2491829" y="5710003"/>
            <a:ext cx="9525" cy="80010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352550" y="5786203"/>
            <a:ext cx="1063079" cy="57150"/>
          </a:xfrm>
          <a:prstGeom prst="roundRect">
            <a:avLst>
              <a:gd name="adj" fmla="val 50000"/>
            </a:avLst>
          </a:prstGeom>
          <a:solidFill>
            <a:srgbClr val="3C4B5D"/>
          </a:solidFill>
          <a:ln/>
        </p:spPr>
      </p:sp>
      <p:sp>
        <p:nvSpPr>
          <p:cNvPr id="13" name="Shape 11"/>
          <p:cNvSpPr/>
          <p:nvPr/>
        </p:nvSpPr>
        <p:spPr>
          <a:xfrm>
            <a:off x="1352550" y="5900503"/>
            <a:ext cx="765274" cy="57150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/>
        </p:spPr>
      </p:sp>
      <p:sp>
        <p:nvSpPr>
          <p:cNvPr id="14" name="Shape 12"/>
          <p:cNvSpPr/>
          <p:nvPr/>
        </p:nvSpPr>
        <p:spPr>
          <a:xfrm>
            <a:off x="1352550" y="6014803"/>
            <a:ext cx="914102" cy="57150"/>
          </a:xfrm>
          <a:prstGeom prst="roundRect">
            <a:avLst>
              <a:gd name="adj" fmla="val 50000"/>
            </a:avLst>
          </a:prstGeom>
          <a:solidFill>
            <a:srgbClr val="3C4B5D"/>
          </a:solidFill>
          <a:ln/>
        </p:spPr>
      </p:sp>
      <p:sp>
        <p:nvSpPr>
          <p:cNvPr id="15" name="Shape 13"/>
          <p:cNvSpPr/>
          <p:nvPr/>
        </p:nvSpPr>
        <p:spPr>
          <a:xfrm>
            <a:off x="4894808" y="5710003"/>
            <a:ext cx="9525" cy="80010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577554" y="5786203"/>
            <a:ext cx="2241054" cy="57150"/>
          </a:xfrm>
          <a:prstGeom prst="roundRect">
            <a:avLst>
              <a:gd name="adj" fmla="val 50000"/>
            </a:avLst>
          </a:prstGeom>
          <a:solidFill>
            <a:srgbClr val="3C4B5D"/>
          </a:solidFill>
          <a:ln/>
        </p:spPr>
      </p:sp>
      <p:sp>
        <p:nvSpPr>
          <p:cNvPr id="17" name="Shape 15"/>
          <p:cNvSpPr/>
          <p:nvPr/>
        </p:nvSpPr>
        <p:spPr>
          <a:xfrm>
            <a:off x="2577554" y="5900503"/>
            <a:ext cx="1613446" cy="57150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/>
        </p:spPr>
      </p:sp>
      <p:sp>
        <p:nvSpPr>
          <p:cNvPr id="18" name="Shape 16"/>
          <p:cNvSpPr/>
          <p:nvPr/>
        </p:nvSpPr>
        <p:spPr>
          <a:xfrm>
            <a:off x="2577554" y="6014803"/>
            <a:ext cx="1927175" cy="57150"/>
          </a:xfrm>
          <a:prstGeom prst="roundRect">
            <a:avLst>
              <a:gd name="adj" fmla="val 50000"/>
            </a:avLst>
          </a:prstGeom>
          <a:solidFill>
            <a:srgbClr val="3C4B5D"/>
          </a:solidFill>
          <a:ln/>
        </p:spPr>
      </p:sp>
      <p:sp>
        <p:nvSpPr>
          <p:cNvPr id="19" name="Shape 17"/>
          <p:cNvSpPr/>
          <p:nvPr/>
        </p:nvSpPr>
        <p:spPr>
          <a:xfrm>
            <a:off x="5978426" y="5710003"/>
            <a:ext cx="9525" cy="80010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980533" y="5786203"/>
            <a:ext cx="921693" cy="57150"/>
          </a:xfrm>
          <a:prstGeom prst="roundRect">
            <a:avLst>
              <a:gd name="adj" fmla="val 50000"/>
            </a:avLst>
          </a:prstGeom>
          <a:solidFill>
            <a:srgbClr val="3C4B5D"/>
          </a:solidFill>
          <a:ln/>
        </p:spPr>
      </p:sp>
      <p:sp>
        <p:nvSpPr>
          <p:cNvPr id="21" name="Shape 19"/>
          <p:cNvSpPr/>
          <p:nvPr/>
        </p:nvSpPr>
        <p:spPr>
          <a:xfrm>
            <a:off x="4980533" y="5900503"/>
            <a:ext cx="663476" cy="57150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/>
        </p:spPr>
      </p:sp>
      <p:sp>
        <p:nvSpPr>
          <p:cNvPr id="22" name="Shape 20"/>
          <p:cNvSpPr/>
          <p:nvPr/>
        </p:nvSpPr>
        <p:spPr>
          <a:xfrm>
            <a:off x="4980533" y="6014803"/>
            <a:ext cx="792510" cy="57150"/>
          </a:xfrm>
          <a:prstGeom prst="roundRect">
            <a:avLst>
              <a:gd name="adj" fmla="val 50000"/>
            </a:avLst>
          </a:prstGeom>
          <a:solidFill>
            <a:srgbClr val="3C4B5D"/>
          </a:solidFill>
          <a:ln/>
        </p:spPr>
      </p:sp>
      <p:sp>
        <p:nvSpPr>
          <p:cNvPr id="23" name="Shape 21"/>
          <p:cNvSpPr/>
          <p:nvPr/>
        </p:nvSpPr>
        <p:spPr>
          <a:xfrm>
            <a:off x="6502301" y="3066630"/>
            <a:ext cx="5283250" cy="3714750"/>
          </a:xfrm>
          <a:prstGeom prst="roundRect">
            <a:avLst>
              <a:gd name="adj" fmla="val 4615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78526" y="3342855"/>
            <a:ext cx="487272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spc="103" kern="0" dirty="0">
                <a:solidFill>
                  <a:srgbClr val="6D7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TEMPLATE LIBRARY</a:t>
            </a:r>
            <a:endParaRPr lang="en-US" sz="1725" dirty="0"/>
          </a:p>
        </p:txBody>
      </p:sp>
      <p:sp>
        <p:nvSpPr>
          <p:cNvPr id="25" name="Text 23"/>
          <p:cNvSpPr/>
          <p:nvPr/>
        </p:nvSpPr>
        <p:spPr>
          <a:xfrm>
            <a:off x="6778526" y="3828630"/>
            <a:ext cx="4872724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250" b="1" dirty="0">
                <a:solidFill>
                  <a:srgbClr val="F2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模板即工作方法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6778526" y="4289550"/>
            <a:ext cx="4872724" cy="673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725" dirty="0">
                <a:solidFill>
                  <a:srgbClr val="A8B3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318 个模板覆盖汇报、研究、规划、论文、问卷与 OpenDesign HTML PPT。</a:t>
            </a:r>
            <a:endParaRPr lang="en-US" sz="1725" dirty="0"/>
          </a:p>
        </p:txBody>
      </p:sp>
      <p:sp>
        <p:nvSpPr>
          <p:cNvPr id="27" name="Shape 25"/>
          <p:cNvSpPr/>
          <p:nvPr/>
        </p:nvSpPr>
        <p:spPr>
          <a:xfrm>
            <a:off x="6778526" y="5495505"/>
            <a:ext cx="4730800" cy="1009650"/>
          </a:xfrm>
          <a:prstGeom prst="roundRect">
            <a:avLst>
              <a:gd name="adj" fmla="val 11321"/>
            </a:avLst>
          </a:prstGeom>
          <a:solidFill>
            <a:srgbClr val="121A24"/>
          </a:solidFill>
          <a:ln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88051" y="5505030"/>
            <a:ext cx="4711750" cy="209550"/>
          </a:xfrm>
          <a:prstGeom prst="rect">
            <a:avLst/>
          </a:prstGeom>
          <a:solidFill>
            <a:srgbClr val="263244"/>
          </a:solidFill>
          <a:ln/>
        </p:spPr>
      </p:sp>
      <p:sp>
        <p:nvSpPr>
          <p:cNvPr id="29" name="Shape 27"/>
          <p:cNvSpPr/>
          <p:nvPr/>
        </p:nvSpPr>
        <p:spPr>
          <a:xfrm>
            <a:off x="8003530" y="5714580"/>
            <a:ext cx="9525" cy="80010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864251" y="5790780"/>
            <a:ext cx="1063079" cy="57150"/>
          </a:xfrm>
          <a:prstGeom prst="roundRect">
            <a:avLst>
              <a:gd name="adj" fmla="val 50000"/>
            </a:avLst>
          </a:prstGeom>
          <a:solidFill>
            <a:srgbClr val="3C4B5D"/>
          </a:solidFill>
          <a:ln/>
        </p:spPr>
      </p:sp>
      <p:sp>
        <p:nvSpPr>
          <p:cNvPr id="31" name="Shape 29"/>
          <p:cNvSpPr/>
          <p:nvPr/>
        </p:nvSpPr>
        <p:spPr>
          <a:xfrm>
            <a:off x="6864251" y="5905080"/>
            <a:ext cx="765274" cy="57150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/>
        </p:spPr>
      </p:sp>
      <p:sp>
        <p:nvSpPr>
          <p:cNvPr id="32" name="Shape 30"/>
          <p:cNvSpPr/>
          <p:nvPr/>
        </p:nvSpPr>
        <p:spPr>
          <a:xfrm>
            <a:off x="6864251" y="6019380"/>
            <a:ext cx="914102" cy="57150"/>
          </a:xfrm>
          <a:prstGeom prst="roundRect">
            <a:avLst>
              <a:gd name="adj" fmla="val 50000"/>
            </a:avLst>
          </a:prstGeom>
          <a:solidFill>
            <a:srgbClr val="3C4B5D"/>
          </a:solidFill>
          <a:ln/>
        </p:spPr>
      </p:sp>
      <p:sp>
        <p:nvSpPr>
          <p:cNvPr id="33" name="Shape 31"/>
          <p:cNvSpPr/>
          <p:nvPr/>
        </p:nvSpPr>
        <p:spPr>
          <a:xfrm>
            <a:off x="10406658" y="5714580"/>
            <a:ext cx="9525" cy="80010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8089255" y="5790780"/>
            <a:ext cx="2241203" cy="57150"/>
          </a:xfrm>
          <a:prstGeom prst="roundRect">
            <a:avLst>
              <a:gd name="adj" fmla="val 50000"/>
            </a:avLst>
          </a:prstGeom>
          <a:solidFill>
            <a:srgbClr val="3C4B5D"/>
          </a:solidFill>
          <a:ln/>
        </p:spPr>
      </p:sp>
      <p:sp>
        <p:nvSpPr>
          <p:cNvPr id="35" name="Shape 33"/>
          <p:cNvSpPr/>
          <p:nvPr/>
        </p:nvSpPr>
        <p:spPr>
          <a:xfrm>
            <a:off x="8089255" y="5905080"/>
            <a:ext cx="1613595" cy="57150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/>
        </p:spPr>
      </p:sp>
      <p:sp>
        <p:nvSpPr>
          <p:cNvPr id="36" name="Shape 34"/>
          <p:cNvSpPr/>
          <p:nvPr/>
        </p:nvSpPr>
        <p:spPr>
          <a:xfrm>
            <a:off x="8089255" y="6019380"/>
            <a:ext cx="1927324" cy="57150"/>
          </a:xfrm>
          <a:prstGeom prst="roundRect">
            <a:avLst>
              <a:gd name="adj" fmla="val 50000"/>
            </a:avLst>
          </a:prstGeom>
          <a:solidFill>
            <a:srgbClr val="3C4B5D"/>
          </a:solidFill>
          <a:ln/>
        </p:spPr>
      </p:sp>
      <p:sp>
        <p:nvSpPr>
          <p:cNvPr id="37" name="Shape 35"/>
          <p:cNvSpPr/>
          <p:nvPr/>
        </p:nvSpPr>
        <p:spPr>
          <a:xfrm>
            <a:off x="11490275" y="5714580"/>
            <a:ext cx="9525" cy="80010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10492383" y="5790780"/>
            <a:ext cx="921693" cy="57150"/>
          </a:xfrm>
          <a:prstGeom prst="roundRect">
            <a:avLst>
              <a:gd name="adj" fmla="val 50000"/>
            </a:avLst>
          </a:prstGeom>
          <a:solidFill>
            <a:srgbClr val="3C4B5D"/>
          </a:solidFill>
          <a:ln/>
        </p:spPr>
      </p:sp>
      <p:sp>
        <p:nvSpPr>
          <p:cNvPr id="39" name="Shape 37"/>
          <p:cNvSpPr/>
          <p:nvPr/>
        </p:nvSpPr>
        <p:spPr>
          <a:xfrm>
            <a:off x="10492383" y="5905080"/>
            <a:ext cx="663476" cy="57150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/>
        </p:spPr>
      </p:sp>
      <p:sp>
        <p:nvSpPr>
          <p:cNvPr id="40" name="Shape 38"/>
          <p:cNvSpPr/>
          <p:nvPr/>
        </p:nvSpPr>
        <p:spPr>
          <a:xfrm>
            <a:off x="10492383" y="6019380"/>
            <a:ext cx="792510" cy="57150"/>
          </a:xfrm>
          <a:prstGeom prst="roundRect">
            <a:avLst>
              <a:gd name="adj" fmla="val 50000"/>
            </a:avLst>
          </a:prstGeom>
          <a:solidFill>
            <a:srgbClr val="3C4B5D"/>
          </a:solidFill>
          <a:ln/>
        </p:spPr>
      </p:sp>
      <p:sp>
        <p:nvSpPr>
          <p:cNvPr id="41" name="Shape 39"/>
          <p:cNvSpPr/>
          <p:nvPr/>
        </p:nvSpPr>
        <p:spPr>
          <a:xfrm>
            <a:off x="12014150" y="3078845"/>
            <a:ext cx="5283250" cy="3714750"/>
          </a:xfrm>
          <a:prstGeom prst="roundRect">
            <a:avLst>
              <a:gd name="adj" fmla="val 4615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1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2290375" y="3355070"/>
            <a:ext cx="487272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spc="103" kern="0" dirty="0">
                <a:solidFill>
                  <a:srgbClr val="6D7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MEMORY</a:t>
            </a:r>
            <a:endParaRPr lang="en-US" sz="1725" dirty="0"/>
          </a:p>
        </p:txBody>
      </p:sp>
      <p:sp>
        <p:nvSpPr>
          <p:cNvPr id="43" name="Text 41"/>
          <p:cNvSpPr/>
          <p:nvPr/>
        </p:nvSpPr>
        <p:spPr>
          <a:xfrm>
            <a:off x="12290375" y="3840845"/>
            <a:ext cx="4872724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250" b="1" dirty="0">
                <a:solidFill>
                  <a:srgbClr val="F2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记忆让协作可延续</a:t>
            </a:r>
            <a:endParaRPr lang="en-US" sz="2250" dirty="0"/>
          </a:p>
        </p:txBody>
      </p:sp>
      <p:sp>
        <p:nvSpPr>
          <p:cNvPr id="44" name="Text 42"/>
          <p:cNvSpPr/>
          <p:nvPr/>
        </p:nvSpPr>
        <p:spPr>
          <a:xfrm>
            <a:off x="12290375" y="4301766"/>
            <a:ext cx="4872724" cy="673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725" dirty="0">
                <a:solidFill>
                  <a:srgbClr val="A8B3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工作区指令、长期记忆与历史会话沉淀下来，下一次打开可以接着做。</a:t>
            </a:r>
            <a:endParaRPr lang="en-US" sz="1725" dirty="0"/>
          </a:p>
        </p:txBody>
      </p:sp>
      <p:sp>
        <p:nvSpPr>
          <p:cNvPr id="45" name="Shape 43"/>
          <p:cNvSpPr/>
          <p:nvPr/>
        </p:nvSpPr>
        <p:spPr>
          <a:xfrm>
            <a:off x="12290375" y="5507720"/>
            <a:ext cx="4730800" cy="1009650"/>
          </a:xfrm>
          <a:prstGeom prst="roundRect">
            <a:avLst>
              <a:gd name="adj" fmla="val 11321"/>
            </a:avLst>
          </a:prstGeom>
          <a:solidFill>
            <a:srgbClr val="121A24"/>
          </a:solidFill>
          <a:ln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2299900" y="5517245"/>
            <a:ext cx="4711750" cy="209550"/>
          </a:xfrm>
          <a:prstGeom prst="rect">
            <a:avLst/>
          </a:prstGeom>
          <a:solidFill>
            <a:srgbClr val="263244"/>
          </a:solidFill>
          <a:ln/>
        </p:spPr>
      </p:sp>
      <p:sp>
        <p:nvSpPr>
          <p:cNvPr id="47" name="Shape 45"/>
          <p:cNvSpPr/>
          <p:nvPr/>
        </p:nvSpPr>
        <p:spPr>
          <a:xfrm>
            <a:off x="13515380" y="5726795"/>
            <a:ext cx="9525" cy="80010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12376100" y="5802995"/>
            <a:ext cx="1063079" cy="57150"/>
          </a:xfrm>
          <a:prstGeom prst="roundRect">
            <a:avLst>
              <a:gd name="adj" fmla="val 50000"/>
            </a:avLst>
          </a:prstGeom>
          <a:solidFill>
            <a:srgbClr val="3C4B5D"/>
          </a:solidFill>
          <a:ln/>
        </p:spPr>
      </p:sp>
      <p:sp>
        <p:nvSpPr>
          <p:cNvPr id="49" name="Shape 47"/>
          <p:cNvSpPr/>
          <p:nvPr/>
        </p:nvSpPr>
        <p:spPr>
          <a:xfrm>
            <a:off x="12376100" y="5917295"/>
            <a:ext cx="765274" cy="57150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/>
        </p:spPr>
      </p:sp>
      <p:sp>
        <p:nvSpPr>
          <p:cNvPr id="50" name="Shape 48"/>
          <p:cNvSpPr/>
          <p:nvPr/>
        </p:nvSpPr>
        <p:spPr>
          <a:xfrm>
            <a:off x="12376100" y="6031595"/>
            <a:ext cx="914102" cy="57150"/>
          </a:xfrm>
          <a:prstGeom prst="roundRect">
            <a:avLst>
              <a:gd name="adj" fmla="val 50000"/>
            </a:avLst>
          </a:prstGeom>
          <a:solidFill>
            <a:srgbClr val="3C4B5D"/>
          </a:solidFill>
          <a:ln/>
        </p:spPr>
      </p:sp>
      <p:sp>
        <p:nvSpPr>
          <p:cNvPr id="51" name="Shape 49"/>
          <p:cNvSpPr/>
          <p:nvPr/>
        </p:nvSpPr>
        <p:spPr>
          <a:xfrm>
            <a:off x="15918507" y="5726795"/>
            <a:ext cx="9525" cy="80010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3601105" y="5802995"/>
            <a:ext cx="2241203" cy="57150"/>
          </a:xfrm>
          <a:prstGeom prst="roundRect">
            <a:avLst>
              <a:gd name="adj" fmla="val 50000"/>
            </a:avLst>
          </a:prstGeom>
          <a:solidFill>
            <a:srgbClr val="3C4B5D"/>
          </a:solidFill>
          <a:ln/>
        </p:spPr>
      </p:sp>
      <p:sp>
        <p:nvSpPr>
          <p:cNvPr id="53" name="Shape 51"/>
          <p:cNvSpPr/>
          <p:nvPr/>
        </p:nvSpPr>
        <p:spPr>
          <a:xfrm>
            <a:off x="13601105" y="5917295"/>
            <a:ext cx="1613595" cy="57150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/>
        </p:spPr>
      </p:sp>
      <p:sp>
        <p:nvSpPr>
          <p:cNvPr id="54" name="Shape 52"/>
          <p:cNvSpPr/>
          <p:nvPr/>
        </p:nvSpPr>
        <p:spPr>
          <a:xfrm>
            <a:off x="13601105" y="6031595"/>
            <a:ext cx="1927324" cy="57150"/>
          </a:xfrm>
          <a:prstGeom prst="roundRect">
            <a:avLst>
              <a:gd name="adj" fmla="val 50000"/>
            </a:avLst>
          </a:prstGeom>
          <a:solidFill>
            <a:srgbClr val="3C4B5D"/>
          </a:solidFill>
          <a:ln/>
        </p:spPr>
      </p:sp>
      <p:sp>
        <p:nvSpPr>
          <p:cNvPr id="55" name="Shape 53"/>
          <p:cNvSpPr/>
          <p:nvPr/>
        </p:nvSpPr>
        <p:spPr>
          <a:xfrm>
            <a:off x="17002125" y="5726795"/>
            <a:ext cx="9525" cy="80010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16004232" y="5802995"/>
            <a:ext cx="921693" cy="57150"/>
          </a:xfrm>
          <a:prstGeom prst="roundRect">
            <a:avLst>
              <a:gd name="adj" fmla="val 50000"/>
            </a:avLst>
          </a:prstGeom>
          <a:solidFill>
            <a:srgbClr val="3C4B5D"/>
          </a:solidFill>
          <a:ln/>
        </p:spPr>
      </p:sp>
      <p:sp>
        <p:nvSpPr>
          <p:cNvPr id="57" name="Shape 55"/>
          <p:cNvSpPr/>
          <p:nvPr/>
        </p:nvSpPr>
        <p:spPr>
          <a:xfrm>
            <a:off x="16004232" y="5917295"/>
            <a:ext cx="663476" cy="57150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/>
        </p:spPr>
      </p:sp>
      <p:sp>
        <p:nvSpPr>
          <p:cNvPr id="58" name="Shape 56"/>
          <p:cNvSpPr/>
          <p:nvPr/>
        </p:nvSpPr>
        <p:spPr>
          <a:xfrm>
            <a:off x="16004232" y="6031595"/>
            <a:ext cx="792510" cy="57150"/>
          </a:xfrm>
          <a:prstGeom prst="roundRect">
            <a:avLst>
              <a:gd name="adj" fmla="val 50000"/>
            </a:avLst>
          </a:prstGeom>
          <a:solidFill>
            <a:srgbClr val="3C4B5D"/>
          </a:solidFill>
          <a:ln/>
        </p:spPr>
      </p:sp>
      <p:sp>
        <p:nvSpPr>
          <p:cNvPr id="59" name="Text 57"/>
          <p:cNvSpPr/>
          <p:nvPr/>
        </p:nvSpPr>
        <p:spPr>
          <a:xfrm>
            <a:off x="17095738" y="9763125"/>
            <a:ext cx="65886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D7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12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2325295"/>
            <a:ext cx="9941719" cy="5810250"/>
          </a:xfrm>
          <a:prstGeom prst="roundRect">
            <a:avLst>
              <a:gd name="adj" fmla="val 4590"/>
            </a:avLst>
          </a:prstGeom>
          <a:solidFill>
            <a:srgbClr val="151E2A">
              <a:alpha val="99000"/>
            </a:srgbClr>
          </a:solidFill>
          <a:ln w="19050">
            <a:solidFill>
              <a:srgbClr val="7FD5C7">
                <a:alpha val="56000"/>
              </a:srgbClr>
            </a:solidFill>
            <a:prstDash val="dash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99000"/>
          </a:blip>
          <a:stretch>
            <a:fillRect/>
          </a:stretch>
        </p:blipFill>
        <p:spPr>
          <a:xfrm>
            <a:off x="990600" y="2325295"/>
            <a:ext cx="9941719" cy="581025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238250" y="2553895"/>
            <a:ext cx="3051721" cy="361950"/>
          </a:xfrm>
          <a:prstGeom prst="roundRect">
            <a:avLst>
              <a:gd name="adj" fmla="val 21053"/>
            </a:avLst>
          </a:prstGeom>
          <a:solidFill>
            <a:srgbClr val="7FD5C7">
              <a:alpha val="10000"/>
            </a:srgbClr>
          </a:solidFill>
          <a:ln w="9525">
            <a:solidFill>
              <a:srgbClr val="7FD5C7">
                <a:alpha val="3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335349" y="2630095"/>
            <a:ext cx="285752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7FD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PLACEHOLDER · 45–60 s</a:t>
            </a:r>
            <a:endParaRPr lang="en-US" sz="1425" dirty="0"/>
          </a:p>
        </p:txBody>
      </p:sp>
      <p:sp>
        <p:nvSpPr>
          <p:cNvPr id="6" name="Shape 3"/>
          <p:cNvSpPr/>
          <p:nvPr/>
        </p:nvSpPr>
        <p:spPr>
          <a:xfrm>
            <a:off x="5523309" y="4287445"/>
            <a:ext cx="876300" cy="876300"/>
          </a:xfrm>
          <a:prstGeom prst="ellipse">
            <a:avLst/>
          </a:prstGeom>
          <a:solidFill>
            <a:srgbClr val="7FD5C7"/>
          </a:solidFill>
          <a:ln/>
        </p:spPr>
      </p:sp>
      <p:sp>
        <p:nvSpPr>
          <p:cNvPr id="7" name="Text 4"/>
          <p:cNvSpPr/>
          <p:nvPr/>
        </p:nvSpPr>
        <p:spPr>
          <a:xfrm>
            <a:off x="5542359" y="4287445"/>
            <a:ext cx="89535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071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4126849" y="5373295"/>
            <a:ext cx="3669221" cy="420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2550" b="1" dirty="0">
                <a:solidFill>
                  <a:srgbClr val="F2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这里替换成你的产品录屏</a:t>
            </a:r>
            <a:endParaRPr lang="en-US" sz="2550" dirty="0"/>
          </a:p>
        </p:txBody>
      </p:sp>
      <p:sp>
        <p:nvSpPr>
          <p:cNvPr id="9" name="Text 6"/>
          <p:cNvSpPr/>
          <p:nvPr/>
        </p:nvSpPr>
        <p:spPr>
          <a:xfrm>
            <a:off x="2987422" y="5869637"/>
            <a:ext cx="5948074" cy="341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A8B3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建议录制：知识库检索 → 打开地图 → Agent 分析 → 生成成果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1332369" y="2719834"/>
            <a:ext cx="614398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7FD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· LIVE DEMO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1332369" y="3163643"/>
            <a:ext cx="6143982" cy="14034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800" b="1" spc="-168" kern="0" dirty="0">
                <a:solidFill>
                  <a:srgbClr val="F2F5F7">
                    <a:alpha val="9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现场只演示</a:t>
            </a:r>
            <a:endParaRPr lang="en-US" sz="4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4800" b="1" spc="-168" kern="0" dirty="0">
                <a:solidFill>
                  <a:srgbClr val="7FD5C7">
                    <a:alpha val="9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一个完整任务</a:t>
            </a:r>
            <a:endParaRPr lang="en-US" sz="4800" dirty="0"/>
          </a:p>
        </p:txBody>
      </p:sp>
      <p:sp>
        <p:nvSpPr>
          <p:cNvPr id="12" name="Shape 9"/>
          <p:cNvSpPr/>
          <p:nvPr/>
        </p:nvSpPr>
        <p:spPr>
          <a:xfrm>
            <a:off x="11332369" y="4833792"/>
            <a:ext cx="5965031" cy="613320"/>
          </a:xfrm>
          <a:prstGeom prst="roundRect">
            <a:avLst>
              <a:gd name="adj" fmla="val 21742"/>
            </a:avLst>
          </a:prstGeom>
          <a:solidFill>
            <a:srgbClr val="FFFFFF">
              <a:alpha val="5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11484769" y="4986192"/>
            <a:ext cx="5143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FD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2056269" y="4986192"/>
            <a:ext cx="5241393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F2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从模板库选择“交通规划汇报”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11332369" y="5611448"/>
            <a:ext cx="5965031" cy="613321"/>
          </a:xfrm>
          <a:prstGeom prst="roundRect">
            <a:avLst>
              <a:gd name="adj" fmla="val 21742"/>
            </a:avLst>
          </a:prstGeom>
          <a:solidFill>
            <a:srgbClr val="FFFFFF">
              <a:alpha val="5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11484769" y="5763848"/>
            <a:ext cx="5143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FD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2056269" y="5763848"/>
            <a:ext cx="5241393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F2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引用知识库资料，定位相关路网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11332369" y="6411491"/>
            <a:ext cx="5965031" cy="613321"/>
          </a:xfrm>
          <a:prstGeom prst="roundRect">
            <a:avLst>
              <a:gd name="adj" fmla="val 21742"/>
            </a:avLst>
          </a:prstGeom>
          <a:solidFill>
            <a:srgbClr val="FFFFFF">
              <a:alpha val="4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11484769" y="6563891"/>
            <a:ext cx="5143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FD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2056269" y="6563891"/>
            <a:ext cx="5241393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F2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 Agent 汇总结论并更新文档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11332369" y="7288069"/>
            <a:ext cx="5965031" cy="613321"/>
          </a:xfrm>
          <a:prstGeom prst="roundRect">
            <a:avLst>
              <a:gd name="adj" fmla="val 21742"/>
            </a:avLst>
          </a:prstGeom>
          <a:solidFill>
            <a:srgbClr val="FFFFFF">
              <a:alpha val="1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11484769" y="7440469"/>
            <a:ext cx="5143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FD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2056269" y="7440469"/>
            <a:ext cx="5241393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F2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回到地图检查，导出或继续编辑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17095738" y="9763125"/>
            <a:ext cx="65886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D7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12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781050"/>
            <a:ext cx="1679600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5476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· VALUE &amp; NEXT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219200"/>
            <a:ext cx="16796004" cy="720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800" b="1" spc="-168" kern="0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当前已经形成闭环，下一步继续把闭环做深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90600" y="5074923"/>
            <a:ext cx="8717161" cy="9525"/>
          </a:xfrm>
          <a:prstGeom prst="rect">
            <a:avLst/>
          </a:prstGeom>
          <a:solidFill>
            <a:srgbClr val="17202A">
              <a:alpha val="1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90600" y="4503423"/>
            <a:ext cx="1600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A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现在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2514600" y="4522473"/>
            <a:ext cx="740895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3F4C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知识库、GIS、Agent、Office 与模板库已经连通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990600" y="6022415"/>
            <a:ext cx="8717161" cy="9525"/>
          </a:xfrm>
          <a:prstGeom prst="rect">
            <a:avLst/>
          </a:prstGeom>
          <a:solidFill>
            <a:srgbClr val="17202A">
              <a:alpha val="14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90600" y="5450915"/>
            <a:ext cx="1600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A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近期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2514600" y="5469965"/>
            <a:ext cx="740895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3F4C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完善地图分析工具、工作流编排与成果导出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90600" y="6977458"/>
            <a:ext cx="8717161" cy="9525"/>
          </a:xfrm>
          <a:prstGeom prst="rect">
            <a:avLst/>
          </a:prstGeom>
          <a:solidFill>
            <a:srgbClr val="17202A">
              <a:alpha val="13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990600" y="6405958"/>
            <a:ext cx="1600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A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中期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2514600" y="6425008"/>
            <a:ext cx="740895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3F4C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沉淀更多交通规划 Agent 与行业知识资产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990600" y="7955221"/>
            <a:ext cx="8717161" cy="9525"/>
          </a:xfrm>
          <a:prstGeom prst="rect">
            <a:avLst/>
          </a:prstGeom>
          <a:solidFill>
            <a:srgbClr val="17202A">
              <a:alpha val="1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990600" y="7383721"/>
            <a:ext cx="1600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A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2514600" y="7402771"/>
            <a:ext cx="740895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3F4C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让规划人员把更多时间放在判断，而不是搬运资料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10164961" y="4959336"/>
            <a:ext cx="2263080" cy="2316509"/>
          </a:xfrm>
          <a:prstGeom prst="roundRect">
            <a:avLst>
              <a:gd name="adj" fmla="val 7576"/>
            </a:avLst>
          </a:prstGeom>
          <a:solidFill>
            <a:srgbClr val="FFFFFF">
              <a:alpha val="97000"/>
            </a:srgbClr>
          </a:solidFill>
          <a:ln w="9525">
            <a:solidFill>
              <a:srgbClr val="17202A">
                <a:alpha val="14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441186" y="5235561"/>
            <a:ext cx="1786830" cy="6895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5400" b="1" spc="-378" kern="0" dirty="0">
                <a:solidFill>
                  <a:srgbClr val="7FD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400" dirty="0"/>
          </a:p>
        </p:txBody>
      </p:sp>
      <p:sp>
        <p:nvSpPr>
          <p:cNvPr id="18" name="Text 16"/>
          <p:cNvSpPr/>
          <p:nvPr/>
        </p:nvSpPr>
        <p:spPr>
          <a:xfrm>
            <a:off x="10441186" y="5886981"/>
            <a:ext cx="1786830" cy="3640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175" b="1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个工作区</a:t>
            </a:r>
            <a:endParaRPr lang="en-US" sz="2175" dirty="0"/>
          </a:p>
        </p:txBody>
      </p:sp>
      <p:sp>
        <p:nvSpPr>
          <p:cNvPr id="19" name="Text 17"/>
          <p:cNvSpPr/>
          <p:nvPr/>
        </p:nvSpPr>
        <p:spPr>
          <a:xfrm>
            <a:off x="10441186" y="6336740"/>
            <a:ext cx="1786830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667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承载多种资料与工具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2599491" y="4971404"/>
            <a:ext cx="2263229" cy="2316510"/>
          </a:xfrm>
          <a:prstGeom prst="roundRect">
            <a:avLst>
              <a:gd name="adj" fmla="val 7575"/>
            </a:avLst>
          </a:prstGeom>
          <a:solidFill>
            <a:srgbClr val="FFFFFF">
              <a:alpha val="92000"/>
            </a:srgbClr>
          </a:solidFill>
          <a:ln w="9525">
            <a:solidFill>
              <a:srgbClr val="17202A">
                <a:alpha val="13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875716" y="5247629"/>
            <a:ext cx="1786979" cy="6895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5400" b="1" spc="-378" kern="0" dirty="0">
                <a:solidFill>
                  <a:srgbClr val="7FD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400" dirty="0"/>
          </a:p>
        </p:txBody>
      </p:sp>
      <p:sp>
        <p:nvSpPr>
          <p:cNvPr id="22" name="Text 20"/>
          <p:cNvSpPr/>
          <p:nvPr/>
        </p:nvSpPr>
        <p:spPr>
          <a:xfrm>
            <a:off x="12875716" y="5899050"/>
            <a:ext cx="1786979" cy="3640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175" b="1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类核心能力</a:t>
            </a:r>
            <a:endParaRPr lang="en-US" sz="2175" dirty="0"/>
          </a:p>
        </p:txBody>
      </p:sp>
      <p:sp>
        <p:nvSpPr>
          <p:cNvPr id="23" name="Text 21"/>
          <p:cNvSpPr/>
          <p:nvPr/>
        </p:nvSpPr>
        <p:spPr>
          <a:xfrm>
            <a:off x="12875716" y="6348808"/>
            <a:ext cx="1786979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667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知识、空间、智能、成果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5034171" y="5006192"/>
            <a:ext cx="2263229" cy="2316510"/>
          </a:xfrm>
          <a:prstGeom prst="roundRect">
            <a:avLst>
              <a:gd name="adj" fmla="val 7575"/>
            </a:avLst>
          </a:prstGeom>
          <a:solidFill>
            <a:srgbClr val="FFFFFF">
              <a:alpha val="75000"/>
            </a:srgbClr>
          </a:solidFill>
          <a:ln w="9525">
            <a:solidFill>
              <a:srgbClr val="17202A">
                <a:alpha val="1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5310396" y="5282417"/>
            <a:ext cx="1786979" cy="6895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5400" b="1" spc="-378" kern="0" dirty="0">
                <a:solidFill>
                  <a:srgbClr val="7FD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318</a:t>
            </a:r>
            <a:endParaRPr lang="en-US" sz="5400" dirty="0"/>
          </a:p>
        </p:txBody>
      </p:sp>
      <p:sp>
        <p:nvSpPr>
          <p:cNvPr id="26" name="Text 24"/>
          <p:cNvSpPr/>
          <p:nvPr/>
        </p:nvSpPr>
        <p:spPr>
          <a:xfrm>
            <a:off x="15310396" y="5933837"/>
            <a:ext cx="1786979" cy="3640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175" b="1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个模板</a:t>
            </a:r>
            <a:endParaRPr lang="en-US" sz="2175" dirty="0"/>
          </a:p>
        </p:txBody>
      </p:sp>
      <p:sp>
        <p:nvSpPr>
          <p:cNvPr id="27" name="Text 25"/>
          <p:cNvSpPr/>
          <p:nvPr/>
        </p:nvSpPr>
        <p:spPr>
          <a:xfrm>
            <a:off x="15310396" y="6383596"/>
            <a:ext cx="1786979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667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把经验变成可复用资产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7109877" y="9763125"/>
            <a:ext cx="64472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476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12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20845" y="3258889"/>
            <a:ext cx="984616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spc="144" kern="0" dirty="0">
                <a:solidFill>
                  <a:srgbClr val="7FD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PLAN · OFFICE AGENT WEB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4220845" y="3526676"/>
            <a:ext cx="9846161" cy="2256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800" b="1" spc="-273" kern="0" dirty="0">
                <a:solidFill>
                  <a:srgbClr val="F2F5F7">
                    <a:alpha val="99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让规划工作，</a:t>
            </a:r>
            <a:endParaRPr lang="en-US" sz="78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7800" b="1" spc="-273" kern="0" dirty="0">
                <a:solidFill>
                  <a:srgbClr val="7FD5C7">
                    <a:alpha val="99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从资料堆里回到任务里</a:t>
            </a:r>
            <a:endParaRPr lang="en-US" sz="7800" dirty="0"/>
          </a:p>
        </p:txBody>
      </p:sp>
      <p:sp>
        <p:nvSpPr>
          <p:cNvPr id="5" name="Shape 2"/>
          <p:cNvSpPr/>
          <p:nvPr/>
        </p:nvSpPr>
        <p:spPr>
          <a:xfrm>
            <a:off x="7905601" y="6068169"/>
            <a:ext cx="2476500" cy="19050"/>
          </a:xfrm>
          <a:prstGeom prst="rect">
            <a:avLst/>
          </a:prstGeom>
          <a:solidFill>
            <a:srgbClr val="7FD5C7"/>
          </a:solidFill>
          <a:ln/>
        </p:spPr>
      </p:sp>
      <p:sp>
        <p:nvSpPr>
          <p:cNvPr id="6" name="Text 3"/>
          <p:cNvSpPr/>
          <p:nvPr/>
        </p:nvSpPr>
        <p:spPr>
          <a:xfrm>
            <a:off x="4220845" y="6321160"/>
            <a:ext cx="9846161" cy="9218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A8B3BD">
                    <a:alpha val="9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规聚项目汇报完毕</a:t>
            </a:r>
            <a:endParaRPr lang="en-US" sz="24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A8B3BD">
                    <a:alpha val="9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欢迎现场体验与批评指正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7057638" y="9763125"/>
            <a:ext cx="65886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6D7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12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2026-08-18T01:49:55Z</dcterms:created>
  <dcterms:modified xsi:type="dcterms:W3CDTF">2026-08-18T01:49:55Z</dcterms:modified>
</cp:coreProperties>
</file>